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319" r:id="rId3"/>
    <p:sldId id="326" r:id="rId4"/>
    <p:sldId id="321" r:id="rId5"/>
    <p:sldId id="327" r:id="rId6"/>
    <p:sldId id="328" r:id="rId7"/>
    <p:sldId id="330" r:id="rId8"/>
    <p:sldId id="323" r:id="rId9"/>
    <p:sldId id="331" r:id="rId10"/>
    <p:sldId id="329" r:id="rId11"/>
    <p:sldId id="324" r:id="rId12"/>
    <p:sldId id="325" r:id="rId13"/>
    <p:sldId id="31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306AC2-B663-4CA7-916D-7466638027B4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6D3E3-E499-4A61-9C4F-F6A075CC0FD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3245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BF39F-3553-41D5-96B1-4622C016330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26819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7BF39F-3553-41D5-96B1-4622C016330B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15440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A9EB1-E0A0-440F-992A-7F3F4A33E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C744598-021B-4E44-A17E-B15E7ADC7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72C6D0-FD3F-443E-811A-5711B8A23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50EA89-2A70-4054-B92D-05DFEBC2E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88387F-B61B-4F34-9917-E863800F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7381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A3A2B2-6145-4E55-9CEE-60D8980A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8D8D96-D61B-43C6-A1F7-92C4441B2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027B349-EECC-47A4-9D21-A87CE6215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3A2D23B-9272-4ABA-8BB9-18C6B79AF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AAFA99-FA06-41D4-BB7D-0E1129080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25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BFDA54-C325-4CF3-BA0F-3C4EB63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54BD29-6291-4199-B301-0280172F9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B93004-1672-43BF-A206-1075BDB25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61152F-1EF3-4E36-88BF-9AD4D236C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DEA156-EE6F-40F1-85B8-FBD51995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902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351AE-3774-4A0A-A79D-B79B109C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5A2614B-36D1-4AC9-8FF6-2C854B0760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0A50B6-F34E-441A-978A-8C2B4FBDB6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D5A7F63-7254-4374-9451-BC3A1871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CC4380-D922-4EF0-9D5C-C46C44DF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12A5256-2683-4AF5-8138-F6D67A4F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914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782B8E-F70E-4FC4-ADA3-F22397A61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DA14EB-E63C-427C-B76B-01881522C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A5C4DA-1483-4385-9232-EAA9931DD3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D1C875D-7EA6-4A2A-911B-E908BD9957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053F3E1-693E-4AC5-90C2-46CB29A89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25D2B55-5088-41A0-925A-1A7E03A39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7FD89-5A18-422C-83B7-09F4C943B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7E9B321-127F-4C59-816D-347241551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46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38B76A-6A24-4FC3-B192-411502369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6D57272-3294-411E-927A-C2FE3AD40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3AAB977-B4CE-4D0B-BCB7-B78C07F9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107E83-6011-4A48-930F-0C698D65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995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379D9D9-37B8-425D-9A86-09B5B43A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0DD90FC-53CD-4B28-B0EC-70DE767F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624270-E420-4DB5-8308-34974541C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401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EC3601-54DA-4232-9288-A5C08818E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343911A-9C06-487D-B25E-38732D978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8D3096D-4984-4CFF-BB67-513276C61A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264ED00-BFBD-43C3-A535-8E42D9E25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B0CB9B-9423-4341-881A-F9E933E65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67FEF43-62E6-497C-96D6-906C87B9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1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EA174-D05F-45A4-B05A-F980F128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ED1984E-F497-458B-84C9-F584F5827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74C483-5639-4FB9-B445-814F9934E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05A2A2-08B9-454C-93F3-4A93FAD8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DFA23E7-9269-47DC-82B5-667D87B94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899DA3-CAF6-410B-8F78-41D1C1F8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31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0A8FBA-D718-4E20-B333-F4814AE6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B4AD5E5-A3F9-4F7D-9C91-4F19CBABD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8B4694-2D86-4191-B1FA-840DB2684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D217BA-7CEA-44DD-BCF1-A66BB8351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BDE078-C11A-4CE1-9DD8-E104544D9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0143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A455D6A-6E9C-467E-BFA8-F26699A9D1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5AEFC40-8191-41A2-B973-267EC17EF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658155-5E7C-4291-A986-613C4BC9A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5A1BD5-0451-408B-B709-EF03F8D10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C07427-6B18-4044-A4D2-439DF15A5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440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60D8C-733B-421F-B51A-1BD3F1E6E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119F3E-FEA0-4058-8F0C-47E3FB605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B231BF8-D9BD-4F04-800E-53B3B629B1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40182-75D7-42FF-A104-A4885CB8C157}" type="datetimeFigureOut">
              <a:rPr lang="ru-RU" smtClean="0"/>
              <a:t>05.02.2025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EBD072-2450-4385-B225-1671B4B1B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87B24E-38EA-4556-817C-A26F961F2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DECB8A-1899-4724-A1BB-861B7BC70A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287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F8DFD35-294D-92C1-761C-AB69D67C5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593" y="1837807"/>
            <a:ext cx="9000812" cy="173763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ru-RU" sz="2800" b="1" dirty="0">
                <a:latin typeface="+mn-lt"/>
              </a:rPr>
              <a:t>Решение целевой задачи на борту БПЛА на основе </a:t>
            </a:r>
            <a:r>
              <a:rPr lang="ru-RU" sz="2800" b="1" dirty="0" err="1">
                <a:latin typeface="+mn-lt"/>
              </a:rPr>
              <a:t>нейросетевого</a:t>
            </a:r>
            <a:r>
              <a:rPr lang="ru-RU" sz="2800" b="1" dirty="0">
                <a:latin typeface="+mn-lt"/>
              </a:rPr>
              <a:t> подхода</a:t>
            </a: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161EA187-7446-4E06-8030-2F7B7AAD0E91}"/>
              </a:ext>
            </a:extLst>
          </p:cNvPr>
          <p:cNvSpPr txBox="1">
            <a:spLocks/>
          </p:cNvSpPr>
          <p:nvPr/>
        </p:nvSpPr>
        <p:spPr>
          <a:xfrm>
            <a:off x="290512" y="36608"/>
            <a:ext cx="11610974" cy="8853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2000" dirty="0">
                <a:latin typeface="+mn-lt"/>
              </a:rPr>
              <a:t>Московский авиационный институт</a:t>
            </a:r>
          </a:p>
          <a:p>
            <a:pPr>
              <a:lnSpc>
                <a:spcPct val="100000"/>
              </a:lnSpc>
            </a:pPr>
            <a:r>
              <a:rPr lang="ru-RU" sz="2000" dirty="0">
                <a:latin typeface="+mn-lt"/>
              </a:rPr>
              <a:t>(национальный исследовательский университет)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6ADB93D0-3B3C-4491-9F5B-BEB736DB2F9B}"/>
              </a:ext>
            </a:extLst>
          </p:cNvPr>
          <p:cNvSpPr txBox="1">
            <a:spLocks/>
          </p:cNvSpPr>
          <p:nvPr/>
        </p:nvSpPr>
        <p:spPr>
          <a:xfrm>
            <a:off x="5454966" y="4297817"/>
            <a:ext cx="6446520" cy="18985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ru-RU" sz="2000" dirty="0">
                <a:latin typeface="+mn-lt"/>
              </a:rPr>
              <a:t>Студент</a:t>
            </a:r>
            <a:r>
              <a:rPr lang="en-US" sz="2000" dirty="0">
                <a:latin typeface="+mn-lt"/>
              </a:rPr>
              <a:t>:</a:t>
            </a:r>
            <a:endParaRPr lang="ru-RU" sz="2000" dirty="0">
              <a:latin typeface="+mn-lt"/>
            </a:endParaRPr>
          </a:p>
          <a:p>
            <a:pPr algn="r"/>
            <a:r>
              <a:rPr lang="ru-RU" sz="2000" dirty="0">
                <a:latin typeface="+mn-lt"/>
              </a:rPr>
              <a:t>Гайдайчук Дмитрий Андреевич</a:t>
            </a:r>
          </a:p>
          <a:p>
            <a:pPr algn="r"/>
            <a:r>
              <a:rPr lang="ru-RU" sz="2000" dirty="0">
                <a:latin typeface="+mn-lt"/>
              </a:rPr>
              <a:t>Группа: М7О-103М-23</a:t>
            </a:r>
          </a:p>
          <a:p>
            <a:pPr algn="r"/>
            <a:r>
              <a:rPr lang="ru-RU" sz="2000" dirty="0">
                <a:latin typeface="+mn-lt"/>
              </a:rPr>
              <a:t>Научный руководитель:</a:t>
            </a:r>
          </a:p>
          <a:p>
            <a:pPr algn="r"/>
            <a:r>
              <a:rPr lang="ru-RU" sz="2000" dirty="0">
                <a:latin typeface="+mn-lt"/>
              </a:rPr>
              <a:t>к.т.н., Ляпин Никита Александрович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B18B1AB-C200-4A60-90AC-9ADF62A7DC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697" y="54229"/>
            <a:ext cx="1264281" cy="121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FA65500A-A15E-48EB-913F-2A348271F0EE}"/>
              </a:ext>
            </a:extLst>
          </p:cNvPr>
          <p:cNvSpPr txBox="1">
            <a:spLocks/>
          </p:cNvSpPr>
          <p:nvPr/>
        </p:nvSpPr>
        <p:spPr>
          <a:xfrm>
            <a:off x="433022" y="1019875"/>
            <a:ext cx="11563057" cy="107357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ru-RU" sz="2000" dirty="0">
              <a:latin typeface="+mn-lt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0779634B-4C65-4578-8AE8-6902DCF1E22D}"/>
              </a:ext>
            </a:extLst>
          </p:cNvPr>
          <p:cNvSpPr txBox="1">
            <a:spLocks/>
          </p:cNvSpPr>
          <p:nvPr/>
        </p:nvSpPr>
        <p:spPr>
          <a:xfrm>
            <a:off x="5175300" y="6254880"/>
            <a:ext cx="1841400" cy="4361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dirty="0">
                <a:latin typeface="+mn-lt"/>
              </a:rPr>
              <a:t>Москва, 2024 г.</a:t>
            </a:r>
          </a:p>
        </p:txBody>
      </p:sp>
    </p:spTree>
    <p:extLst>
      <p:ext uri="{BB962C8B-B14F-4D97-AF65-F5344CB8AC3E}">
        <p14:creationId xmlns:p14="http://schemas.microsoft.com/office/powerpoint/2010/main" val="338084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D6AF-22B1-F5FD-F094-1886DF0E4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66B23-0B11-52A2-CCFD-2F72F776800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Введение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C3DF5B-73F6-CF39-D8F1-C742EB0E2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1B1642"/>
                </a:solidFill>
              </a:rPr>
              <a:t>В </a:t>
            </a:r>
            <a:r>
              <a:rPr lang="ru-RU" dirty="0"/>
              <a:t>данной работе разрабатывается система автоматизированного выявления дефектов на летательных аппаратах с использованием </a:t>
            </a:r>
            <a:r>
              <a:rPr lang="ru-RU" dirty="0" err="1"/>
              <a:t>сверточных</a:t>
            </a:r>
            <a:r>
              <a:rPr lang="ru-RU" dirty="0"/>
              <a:t> нейронных сетей.</a:t>
            </a:r>
            <a:br>
              <a:rPr lang="ru-RU" dirty="0"/>
            </a:br>
            <a:endParaRPr lang="ru-RU" dirty="0"/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dirty="0"/>
              <a:t>Цель исследования — разработать и обучить модель, способную эффективно классифицировать повреждения по изображениям с БПЛА.</a:t>
            </a: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74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7EE7B-8257-CDB8-1806-AA64B6E38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B3F3A3-EF82-38E3-4A4A-C144FB05A1B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Проведенные изменения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7C3ECE-0E12-D659-25DA-F67A19FE5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20000"/>
              </a:lnSpc>
              <a:spcBef>
                <a:spcPts val="0"/>
              </a:spcBef>
              <a:buAutoNum type="arabicPeriod"/>
            </a:pPr>
            <a:r>
              <a:rPr lang="ru-RU" b="1" dirty="0">
                <a:solidFill>
                  <a:srgbClr val="1B1642"/>
                </a:solidFill>
              </a:rPr>
              <a:t> Вторая глава диплома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ru-RU" dirty="0">
                <a:solidFill>
                  <a:srgbClr val="1B1642"/>
                </a:solidFill>
              </a:rPr>
              <a:t>Добавлена теоретическая часть, включающая постановку задачи, описание данных, методы предобработки и аугментации, а также процесс построения и обучения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2618461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46EC2-7C8E-4A66-4CA6-B38ECDBB8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11F7-B617-F908-B873-06D577C66FC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Проведенные изменения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A59E02-E253-9E3C-0BA6-7F7971B9B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b="1" dirty="0">
                <a:solidFill>
                  <a:srgbClr val="1B1642"/>
                </a:solidFill>
              </a:rPr>
              <a:t>2. Улучшение </a:t>
            </a:r>
            <a:r>
              <a:rPr lang="ru-RU" sz="2000" b="1" dirty="0" err="1">
                <a:solidFill>
                  <a:srgbClr val="1B1642"/>
                </a:solidFill>
              </a:rPr>
              <a:t>My_CNN</a:t>
            </a:r>
            <a:endParaRPr lang="ru-RU" sz="2000" b="1" dirty="0">
              <a:solidFill>
                <a:srgbClr val="1B1642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1B1642"/>
                </a:solidFill>
              </a:rPr>
              <a:t>Добавлены новые методы аугментации данных.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1B164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1B164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1B1642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1B1642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ru-RU" sz="2000" dirty="0">
              <a:solidFill>
                <a:srgbClr val="1B1642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1B1642"/>
                </a:solidFill>
              </a:rPr>
              <a:t>Оптимизирована архитектура нейронной сети.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ru-RU" sz="2000" dirty="0">
                <a:solidFill>
                  <a:srgbClr val="1B1642"/>
                </a:solidFill>
              </a:rPr>
              <a:t>Внедрены </a:t>
            </a:r>
            <a:r>
              <a:rPr lang="ru-RU" sz="2000" dirty="0" err="1">
                <a:solidFill>
                  <a:srgbClr val="1B1642"/>
                </a:solidFill>
              </a:rPr>
              <a:t>callbacks</a:t>
            </a:r>
            <a:r>
              <a:rPr lang="ru-RU" sz="2000" dirty="0">
                <a:solidFill>
                  <a:srgbClr val="1B1642"/>
                </a:solidFill>
              </a:rPr>
              <a:t> (ранняя остановка, снижение </a:t>
            </a:r>
            <a:r>
              <a:rPr lang="ru-RU" sz="2000" dirty="0" err="1">
                <a:solidFill>
                  <a:srgbClr val="1B1642"/>
                </a:solidFill>
              </a:rPr>
              <a:t>learning</a:t>
            </a:r>
            <a:r>
              <a:rPr lang="ru-RU" sz="2000" dirty="0">
                <a:solidFill>
                  <a:srgbClr val="1B1642"/>
                </a:solidFill>
              </a:rPr>
              <a:t> </a:t>
            </a:r>
            <a:r>
              <a:rPr lang="ru-RU" sz="2000" dirty="0" err="1">
                <a:solidFill>
                  <a:srgbClr val="1B1642"/>
                </a:solidFill>
              </a:rPr>
              <a:t>rate</a:t>
            </a:r>
            <a:r>
              <a:rPr lang="ru-RU" sz="2000" dirty="0">
                <a:solidFill>
                  <a:srgbClr val="1B1642"/>
                </a:solidFill>
              </a:rPr>
              <a:t>).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FFDBF0-BFC9-D759-B411-2587192D9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35" y="5417022"/>
            <a:ext cx="10425165" cy="129596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E53B571-EBD9-7B88-E8F0-0A06258B8B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35" y="2797296"/>
            <a:ext cx="7059010" cy="164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185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00480-EE3B-4A67-B817-CC01DC17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68312B-C302-A0E4-C21B-2833A33014D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Проведенные изменения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145081-AF4E-91AD-BFF8-FDDAAF8026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>
                <a:solidFill>
                  <a:srgbClr val="1B1642"/>
                </a:solidFill>
              </a:rPr>
              <a:t>3. Обучение YOLO и </a:t>
            </a:r>
            <a:r>
              <a:rPr lang="ru-RU" b="1" dirty="0" err="1">
                <a:solidFill>
                  <a:srgbClr val="1B1642"/>
                </a:solidFill>
              </a:rPr>
              <a:t>Faster</a:t>
            </a:r>
            <a:r>
              <a:rPr lang="ru-RU" b="1" dirty="0">
                <a:solidFill>
                  <a:srgbClr val="1B1642"/>
                </a:solidFill>
              </a:rPr>
              <a:t> R-CNN</a:t>
            </a:r>
          </a:p>
          <a:p>
            <a:pPr marL="0" indent="0">
              <a:buNone/>
            </a:pPr>
            <a:r>
              <a:rPr lang="ru-RU" dirty="0">
                <a:solidFill>
                  <a:srgbClr val="1B1642"/>
                </a:solidFill>
              </a:rPr>
              <a:t>YOLOv11 обучалась на аннотированном датасете.</a:t>
            </a:r>
          </a:p>
          <a:p>
            <a:pPr marL="0" indent="0">
              <a:buNone/>
            </a:pPr>
            <a:endParaRPr lang="ru-RU" dirty="0">
              <a:solidFill>
                <a:srgbClr val="1B1642"/>
              </a:solidFill>
            </a:endParaRPr>
          </a:p>
          <a:p>
            <a:pPr marL="0" indent="0">
              <a:buNone/>
            </a:pPr>
            <a:endParaRPr lang="ru-RU" dirty="0">
              <a:solidFill>
                <a:srgbClr val="1B1642"/>
              </a:solidFill>
            </a:endParaRPr>
          </a:p>
          <a:p>
            <a:pPr marL="0" indent="0">
              <a:buNone/>
            </a:pPr>
            <a:endParaRPr lang="ru-RU" dirty="0">
              <a:solidFill>
                <a:srgbClr val="1B1642"/>
              </a:solidFill>
            </a:endParaRPr>
          </a:p>
          <a:p>
            <a:pPr marL="0" indent="0">
              <a:buNone/>
            </a:pPr>
            <a:endParaRPr lang="ru-RU" dirty="0">
              <a:solidFill>
                <a:srgbClr val="1B1642"/>
              </a:solidFill>
            </a:endParaRPr>
          </a:p>
          <a:p>
            <a:pPr marL="0" indent="0">
              <a:buNone/>
            </a:pPr>
            <a:r>
              <a:rPr lang="ru-RU" dirty="0" err="1">
                <a:solidFill>
                  <a:srgbClr val="1B1642"/>
                </a:solidFill>
              </a:rPr>
              <a:t>Faster</a:t>
            </a:r>
            <a:r>
              <a:rPr lang="ru-RU" dirty="0">
                <a:solidFill>
                  <a:srgbClr val="1B1642"/>
                </a:solidFill>
              </a:rPr>
              <a:t> R-CNN использует </a:t>
            </a:r>
            <a:r>
              <a:rPr lang="ru-RU" dirty="0" err="1">
                <a:solidFill>
                  <a:srgbClr val="1B1642"/>
                </a:solidFill>
              </a:rPr>
              <a:t>backbone</a:t>
            </a:r>
            <a:r>
              <a:rPr lang="ru-RU" dirty="0">
                <a:solidFill>
                  <a:srgbClr val="1B1642"/>
                </a:solidFill>
              </a:rPr>
              <a:t> ResNet-50 FPN для детекции дефектов.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D95CF84-60F5-4035-76E6-5DE937983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729" y="2819691"/>
            <a:ext cx="2632752" cy="201506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46D744-5F05-7421-F66B-123B752E9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19" y="5730769"/>
            <a:ext cx="7449590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0B4E0-B2D9-28A6-42E3-A28A490DE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A403D5-B1AC-AAA5-D26A-FF9A16260B59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Архитектура </a:t>
            </a:r>
            <a:r>
              <a:rPr lang="en-US" sz="3200" b="1" dirty="0" err="1">
                <a:solidFill>
                  <a:srgbClr val="1B1642"/>
                </a:solidFill>
                <a:latin typeface="+mn-lt"/>
                <a:ea typeface="+mn-ea"/>
                <a:cs typeface="+mn-cs"/>
              </a:rPr>
              <a:t>My_CNN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E15BDA8-6B1D-6AFE-57C3-ED884D085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80034" cy="4351338"/>
          </a:xfrm>
        </p:spPr>
        <p:txBody>
          <a:bodyPr>
            <a:normAutofit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Основные характеристики модели: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Входной слой: 640x640,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Три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сверточных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слоя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 активацией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ReLU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и L2-регуляризацией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MaxPooling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после каждого </a:t>
            </a: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сверточного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слоя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Полносвязный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слой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(256 нейронов,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Dropout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0.5)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Выходной слой с 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Softmax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для трех классов дефектов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D6A538-513A-DAC1-35D9-EAC84C999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619" y="2286520"/>
            <a:ext cx="5903181" cy="3429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220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24ABD-E61F-F80C-A3A0-89A671D7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34AE4C-CCCD-7D2B-B439-DB1433E4EB4E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Архитектура </a:t>
            </a:r>
            <a:r>
              <a:rPr lang="en-US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YOLO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BA1D6-3ADA-8668-042A-DF44A243B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Основные характеристики YOLO: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Используется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YOLOv11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(модель "yolo11n.pt").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Обучение на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50 эпохах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размер изображений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640x640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Оптимизация под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GPU (CUDA)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Аннотированные данные в формате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COCO (</a:t>
            </a:r>
            <a:r>
              <a:rPr kumimoji="0" lang="ru-RU" altLang="ru-RU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data.yaml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YOLO выполняет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одновременную классификацию и детекцию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Параметры обучения: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Батч</a:t>
            </a: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16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Оптимизатор: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SGD/Adam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Аугментация: </a:t>
            </a:r>
            <a:r>
              <a:rPr kumimoji="0" lang="ru-RU" altLang="ru-RU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отражение, изменение яркости</a:t>
            </a: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Автоматическое сохранение весов и графиков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3081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3A89-A79C-AA85-66EE-7B1C10FA5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F0DA9-BD38-945A-E78F-0AAC73F519D3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Архитектура </a:t>
            </a:r>
            <a:r>
              <a:rPr lang="en-US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YOLO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ACBD892-FA12-9F9C-3A2D-A07BBF9D7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957182"/>
            <a:ext cx="10509597" cy="4306984"/>
          </a:xfrm>
        </p:spPr>
      </p:pic>
    </p:spTree>
    <p:extLst>
      <p:ext uri="{BB962C8B-B14F-4D97-AF65-F5344CB8AC3E}">
        <p14:creationId xmlns:p14="http://schemas.microsoft.com/office/powerpoint/2010/main" val="387453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672AC-14F9-2D1D-346A-151140303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46FB21-CF9C-8D07-1078-472E30540EC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Архитектура </a:t>
            </a:r>
            <a:r>
              <a:rPr lang="en-US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Faster R-CNN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CFA20C-9DF4-00C1-D663-C6CA40978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/>
              <a:t>Основные характеристики </a:t>
            </a:r>
            <a:r>
              <a:rPr lang="en-US" sz="2400" b="1" dirty="0"/>
              <a:t>Faster R-CNN: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/>
              <a:t>Использует </a:t>
            </a:r>
            <a:r>
              <a:rPr lang="en-US" sz="2400" b="1" dirty="0"/>
              <a:t>ResNet-50 FPN</a:t>
            </a:r>
            <a:r>
              <a:rPr lang="en-US" sz="2400" dirty="0"/>
              <a:t> </a:t>
            </a:r>
            <a:r>
              <a:rPr lang="ru-RU" sz="2400" dirty="0"/>
              <a:t>в качестве </a:t>
            </a:r>
            <a:r>
              <a:rPr lang="en-US" sz="2400" dirty="0"/>
              <a:t>backbone.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/>
              <a:t>Оптимизирована для </a:t>
            </a:r>
            <a:r>
              <a:rPr lang="ru-RU" sz="2400" b="1" dirty="0"/>
              <a:t>обнаружения и локализации дефектов</a:t>
            </a:r>
            <a:r>
              <a:rPr lang="ru-RU" sz="24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/>
              <a:t>Работает на </a:t>
            </a:r>
            <a:r>
              <a:rPr lang="en-US" sz="2400" b="1" dirty="0"/>
              <a:t>COCO-</a:t>
            </a:r>
            <a:r>
              <a:rPr lang="ru-RU" sz="2400" b="1" dirty="0"/>
              <a:t>аннотированном датасете</a:t>
            </a:r>
            <a:r>
              <a:rPr lang="ru-RU" sz="24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b="1" dirty="0"/>
              <a:t>50 эпох</a:t>
            </a:r>
            <a:r>
              <a:rPr lang="ru-RU" sz="2400" dirty="0"/>
              <a:t> с </a:t>
            </a:r>
            <a:r>
              <a:rPr lang="en-US" sz="2400" b="1" dirty="0"/>
              <a:t>Adam (</a:t>
            </a:r>
            <a:r>
              <a:rPr lang="en-US" sz="2400" b="1" dirty="0" err="1"/>
              <a:t>lr</a:t>
            </a:r>
            <a:r>
              <a:rPr lang="en-US" sz="2400" b="1" dirty="0"/>
              <a:t>=0.0005)</a:t>
            </a:r>
            <a:r>
              <a:rPr lang="en-US" sz="2400" dirty="0"/>
              <a:t>.</a:t>
            </a:r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/>
              <a:t>Модель медленнее </a:t>
            </a:r>
            <a:r>
              <a:rPr lang="en-US" sz="2400" dirty="0"/>
              <a:t>YOLO, </a:t>
            </a:r>
            <a:r>
              <a:rPr lang="ru-RU" sz="2400" dirty="0"/>
              <a:t>но лучше детектирует </a:t>
            </a:r>
            <a:r>
              <a:rPr lang="ru-RU" sz="2400" b="1" dirty="0"/>
              <a:t>мелкие дефекты</a:t>
            </a:r>
            <a:r>
              <a:rPr lang="ru-RU" sz="24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2400" b="1" dirty="0"/>
              <a:t>Параметры обучения: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 err="1"/>
              <a:t>Батч</a:t>
            </a:r>
            <a:r>
              <a:rPr lang="ru-RU" sz="2400" dirty="0"/>
              <a:t>: </a:t>
            </a:r>
            <a:r>
              <a:rPr lang="ru-RU" sz="2400" b="1" dirty="0"/>
              <a:t>4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LR Scheduler: </a:t>
            </a:r>
            <a:r>
              <a:rPr lang="en-US" sz="2400" b="1" dirty="0" err="1"/>
              <a:t>StepLR</a:t>
            </a:r>
            <a:r>
              <a:rPr lang="en-US" sz="2400" b="1" dirty="0"/>
              <a:t> (</a:t>
            </a:r>
            <a:r>
              <a:rPr lang="el-GR" sz="2400" b="1" dirty="0"/>
              <a:t>γ=0.1 </a:t>
            </a:r>
            <a:r>
              <a:rPr lang="ru-RU" sz="2400" b="1" dirty="0"/>
              <a:t>каждые 5 эпох)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/>
              <a:t>Аугментация: </a:t>
            </a:r>
            <a:r>
              <a:rPr lang="ru-RU" sz="2400" b="1" dirty="0"/>
              <a:t>изменение контраста, шум, отражение</a:t>
            </a:r>
            <a:endParaRPr lang="ru-RU" sz="2400" dirty="0"/>
          </a:p>
          <a:p>
            <a:pPr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sz="2400" dirty="0"/>
              <a:t>Выходной формат: </a:t>
            </a:r>
            <a:r>
              <a:rPr lang="ru-RU" sz="2400" b="1" dirty="0" err="1"/>
              <a:t>ббоксы</a:t>
            </a:r>
            <a:r>
              <a:rPr lang="ru-RU" sz="2400" b="1" dirty="0"/>
              <a:t> + </a:t>
            </a:r>
            <a:r>
              <a:rPr lang="en-US" sz="2400" b="1" dirty="0"/>
              <a:t>confidence score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792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85021-1DA7-A47D-7431-98C5D2B57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D9339-1B75-E7FF-AB74-B0F1801C5976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Архитектура </a:t>
            </a:r>
            <a:r>
              <a:rPr lang="en-US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Faster R-CNN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D0BEFCE-EE65-028B-C48A-BB501087DB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431" y="1835672"/>
            <a:ext cx="7761137" cy="4566767"/>
          </a:xfrm>
        </p:spPr>
      </p:pic>
    </p:spTree>
    <p:extLst>
      <p:ext uri="{BB962C8B-B14F-4D97-AF65-F5344CB8AC3E}">
        <p14:creationId xmlns:p14="http://schemas.microsoft.com/office/powerpoint/2010/main" val="2149963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8A35C-EBA6-C884-6A74-E33ACD685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F6BEE1-1B08-059B-F396-DAEF270F91FF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Сравнительный анализ моделей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0525E08-BB62-1DBC-F654-7CF4269DA4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4984375"/>
              </p:ext>
            </p:extLst>
          </p:nvPr>
        </p:nvGraphicFramePr>
        <p:xfrm>
          <a:off x="838200" y="1785042"/>
          <a:ext cx="10515600" cy="4611324"/>
        </p:xfrm>
        <a:graphic>
          <a:graphicData uri="http://schemas.openxmlformats.org/drawingml/2006/table">
            <a:tbl>
              <a:tblPr/>
              <a:tblGrid>
                <a:gridCol w="1372437">
                  <a:extLst>
                    <a:ext uri="{9D8B030D-6E8A-4147-A177-3AD203B41FA5}">
                      <a16:colId xmlns:a16="http://schemas.microsoft.com/office/drawing/2014/main" val="2144168635"/>
                    </a:ext>
                  </a:extLst>
                </a:gridCol>
                <a:gridCol w="1637882">
                  <a:extLst>
                    <a:ext uri="{9D8B030D-6E8A-4147-A177-3AD203B41FA5}">
                      <a16:colId xmlns:a16="http://schemas.microsoft.com/office/drawing/2014/main" val="1559392451"/>
                    </a:ext>
                  </a:extLst>
                </a:gridCol>
                <a:gridCol w="1276140">
                  <a:extLst>
                    <a:ext uri="{9D8B030D-6E8A-4147-A177-3AD203B41FA5}">
                      <a16:colId xmlns:a16="http://schemas.microsoft.com/office/drawing/2014/main" val="2290319380"/>
                    </a:ext>
                  </a:extLst>
                </a:gridCol>
                <a:gridCol w="1034981">
                  <a:extLst>
                    <a:ext uri="{9D8B030D-6E8A-4147-A177-3AD203B41FA5}">
                      <a16:colId xmlns:a16="http://schemas.microsoft.com/office/drawing/2014/main" val="3062489761"/>
                    </a:ext>
                  </a:extLst>
                </a:gridCol>
                <a:gridCol w="1185705">
                  <a:extLst>
                    <a:ext uri="{9D8B030D-6E8A-4147-A177-3AD203B41FA5}">
                      <a16:colId xmlns:a16="http://schemas.microsoft.com/office/drawing/2014/main" val="1210763829"/>
                    </a:ext>
                  </a:extLst>
                </a:gridCol>
                <a:gridCol w="1818752">
                  <a:extLst>
                    <a:ext uri="{9D8B030D-6E8A-4147-A177-3AD203B41FA5}">
                      <a16:colId xmlns:a16="http://schemas.microsoft.com/office/drawing/2014/main" val="3350662727"/>
                    </a:ext>
                  </a:extLst>
                </a:gridCol>
                <a:gridCol w="2189703">
                  <a:extLst>
                    <a:ext uri="{9D8B030D-6E8A-4147-A177-3AD203B41FA5}">
                      <a16:colId xmlns:a16="http://schemas.microsoft.com/office/drawing/2014/main" val="3627168989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Модель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dirty="0"/>
                        <a:t>Класс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Precision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Recall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F1-score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Поддержка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Время </a:t>
                      </a:r>
                      <a:r>
                        <a:rPr lang="ru-RU" sz="2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инференса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348361"/>
                  </a:ext>
                </a:extLst>
              </a:tr>
              <a:tr h="417252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MY_CNN</a:t>
                      </a:r>
                      <a:endParaRPr lang="ru-RU" sz="2000" b="1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>
                          <a:effectLst/>
                        </a:rPr>
                        <a:t>Вмятина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0.28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0.26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0.27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только классификация</a:t>
                      </a:r>
                      <a:endParaRPr lang="ru-RU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0.12 сек/</a:t>
                      </a:r>
                      <a:r>
                        <a:rPr lang="ru-RU" sz="2000" dirty="0" err="1"/>
                        <a:t>изобр</a:t>
                      </a:r>
                      <a:endParaRPr lang="ru-RU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134503"/>
                  </a:ext>
                </a:extLst>
              </a:tr>
              <a:tr h="417252">
                <a:tc vMerge="1">
                  <a:txBody>
                    <a:bodyPr/>
                    <a:lstStyle/>
                    <a:p>
                      <a:pPr algn="ctr"/>
                      <a:endParaRPr lang="ru-RU" sz="1800" b="1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Повреждение крепежа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0.32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0.18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0.23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ru-RU" sz="16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480757"/>
                  </a:ext>
                </a:extLst>
              </a:tr>
              <a:tr h="238429">
                <a:tc vMerge="1">
                  <a:txBody>
                    <a:bodyPr/>
                    <a:lstStyle/>
                    <a:p>
                      <a:pPr algn="ctr"/>
                      <a:endParaRPr lang="ru-RU" sz="1800" b="1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Разрыв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0.33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0.49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0.39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ru-RU" sz="16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315976"/>
                  </a:ext>
                </a:extLst>
              </a:tr>
              <a:tr h="238429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YOLO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Вмятина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0.98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0.92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0.95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обнаружение и классификация</a:t>
                      </a:r>
                      <a:endParaRPr lang="ru-RU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0.05 сек/</a:t>
                      </a:r>
                      <a:r>
                        <a:rPr lang="ru-RU" sz="2000" dirty="0" err="1"/>
                        <a:t>изобр</a:t>
                      </a:r>
                      <a:endParaRPr lang="ru-RU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2303038"/>
                  </a:ext>
                </a:extLst>
              </a:tr>
              <a:tr h="417252">
                <a:tc vMerge="1">
                  <a:txBody>
                    <a:bodyPr/>
                    <a:lstStyle/>
                    <a:p>
                      <a:pPr algn="ctr"/>
                      <a:endParaRPr lang="ru-RU" sz="1800" b="1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Повреждение крепежа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0.94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0.78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0.86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ru-RU" sz="16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1875700"/>
                  </a:ext>
                </a:extLst>
              </a:tr>
              <a:tr h="238429">
                <a:tc vMerge="1">
                  <a:txBody>
                    <a:bodyPr/>
                    <a:lstStyle/>
                    <a:p>
                      <a:pPr algn="ctr"/>
                      <a:endParaRPr lang="ru-RU" sz="1800" b="1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Разрыв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0.93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0.77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0.86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ru-RU" sz="16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290544"/>
                  </a:ext>
                </a:extLst>
              </a:tr>
              <a:tr h="238429">
                <a:tc rowSpan="3">
                  <a:txBody>
                    <a:bodyPr/>
                    <a:lstStyle/>
                    <a:p>
                      <a:pPr algn="ctr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Faster R-CNN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Вмятина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0.08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0.17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0.11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обнаружение и классификация</a:t>
                      </a:r>
                      <a:endParaRPr lang="ru-RU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0.25 сек/</a:t>
                      </a:r>
                      <a:r>
                        <a:rPr lang="ru-RU" sz="2000" dirty="0" err="1"/>
                        <a:t>изобр</a:t>
                      </a:r>
                      <a:endParaRPr lang="ru-RU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79150"/>
                  </a:ext>
                </a:extLst>
              </a:tr>
              <a:tr h="417252">
                <a:tc vMerge="1">
                  <a:txBody>
                    <a:bodyPr/>
                    <a:lstStyle/>
                    <a:p>
                      <a:pPr algn="ctr"/>
                      <a:endParaRPr lang="ru-RU" sz="1800" b="1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Повреждение крепежа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0.68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0.12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0.20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ru-RU" sz="16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840406"/>
                  </a:ext>
                </a:extLst>
              </a:tr>
              <a:tr h="238429">
                <a:tc vMerge="1">
                  <a:txBody>
                    <a:bodyPr/>
                    <a:lstStyle/>
                    <a:p>
                      <a:pPr algn="ctr"/>
                      <a:endParaRPr lang="ru-RU" sz="1800" b="1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/>
                        <a:t>Разрыв</a:t>
                      </a:r>
                      <a:endParaRPr lang="en-US" sz="20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0.12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0.42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b="0" dirty="0"/>
                        <a:t>0.18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ru-RU" sz="1600" b="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2570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958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CBAF8-573C-6400-CEF0-27F300502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622CEB-9602-ED7F-DF04-B514577E0060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alpha val="30000"/>
            </a:schemeClr>
          </a:solidFill>
        </p:spPr>
        <p:txBody>
          <a:bodyPr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ru-RU" sz="3200" b="1" dirty="0">
                <a:solidFill>
                  <a:srgbClr val="1B1642"/>
                </a:solidFill>
                <a:latin typeface="+mn-lt"/>
                <a:ea typeface="+mn-ea"/>
                <a:cs typeface="+mn-cs"/>
              </a:rPr>
              <a:t>Выводы</a:t>
            </a:r>
            <a:endParaRPr lang="ru-RU" altLang="ru-RU" sz="3200" b="1" dirty="0">
              <a:solidFill>
                <a:srgbClr val="1B164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D213ED-6543-69F3-58D2-CFE15E9CC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My_CNN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демонстрирует хороший уровень классификации, но не умеет локализовать дефекты.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Faster</a:t>
            </a: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R-CNN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подходит для более детализированного анализа дефектов, но требует больше вычислительных ресурсов.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u-RU" altLang="ru-RU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YOLO</a:t>
            </a:r>
            <a:r>
              <a:rPr kumimoji="0" lang="ru-RU" altLang="ru-RU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показала наилучшую точность и скорость обработки, что делает ее предпочтительным вариантом.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ru-RU" altLang="ru-R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6058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0E1A32C1-182E-4360-9166-5D8D6D9EE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2365" y="5157430"/>
            <a:ext cx="4081272" cy="999045"/>
          </a:xfrm>
          <a:solidFill>
            <a:schemeClr val="lt1">
              <a:alpha val="50000"/>
            </a:schemeClr>
          </a:solidFill>
        </p:spPr>
        <p:txBody>
          <a:bodyPr>
            <a:normAutofit/>
          </a:bodyPr>
          <a:lstStyle/>
          <a:p>
            <a:pPr algn="l"/>
            <a:r>
              <a:rPr lang="ru-RU" dirty="0"/>
              <a:t>Выполнил:</a:t>
            </a:r>
          </a:p>
          <a:p>
            <a:pPr algn="l"/>
            <a:r>
              <a:rPr lang="ru-RU" dirty="0"/>
              <a:t>Гайдайчук Д.А.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57A7CC-C4E7-4572-8F59-E3A8468EF771}"/>
              </a:ext>
            </a:extLst>
          </p:cNvPr>
          <p:cNvSpPr txBox="1"/>
          <p:nvPr/>
        </p:nvSpPr>
        <p:spPr>
          <a:xfrm>
            <a:off x="6096000" y="620321"/>
            <a:ext cx="4892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6D2E4E-5605-4918-A99D-0ED05B785511}"/>
              </a:ext>
            </a:extLst>
          </p:cNvPr>
          <p:cNvSpPr txBox="1"/>
          <p:nvPr/>
        </p:nvSpPr>
        <p:spPr>
          <a:xfrm>
            <a:off x="1402365" y="1920870"/>
            <a:ext cx="7594331" cy="1015663"/>
          </a:xfrm>
          <a:prstGeom prst="rect">
            <a:avLst/>
          </a:prstGeom>
          <a:solidFill>
            <a:schemeClr val="lt1">
              <a:alpha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ru-RU" sz="6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Спасибо за вни</a:t>
            </a:r>
            <a:r>
              <a:rPr lang="ru-RU" sz="6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мание!</a:t>
            </a:r>
            <a:endParaRPr lang="ru-RU" sz="6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67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680</TotalTime>
  <Words>494</Words>
  <Application>Microsoft Office PowerPoint</Application>
  <PresentationFormat>Широкоэкранный</PresentationFormat>
  <Paragraphs>130</Paragraphs>
  <Slides>13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Решение целевой задачи на борту БПЛА на основе нейросетевого подхода</vt:lpstr>
      <vt:lpstr>Введение</vt:lpstr>
      <vt:lpstr>Проведенные изменения</vt:lpstr>
      <vt:lpstr>Проведенные изменения</vt:lpstr>
      <vt:lpstr>Проведенные изменения</vt:lpstr>
      <vt:lpstr>Архитектура My_CNN</vt:lpstr>
      <vt:lpstr>Архитектура YOLO</vt:lpstr>
      <vt:lpstr>Архитектура YOLO</vt:lpstr>
      <vt:lpstr>Архитектура Faster R-CNN</vt:lpstr>
      <vt:lpstr>Архитектура Faster R-CNN</vt:lpstr>
      <vt:lpstr>Сравнительный анализ моделей</vt:lpstr>
      <vt:lpstr>Выводы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Распознавание алфавитно-цифровой маркировки изделий для их последующего помещения на определенное место на складе</dc:title>
  <dc:creator>Никита</dc:creator>
  <cp:lastModifiedBy>Дмитрий Гайдайчук</cp:lastModifiedBy>
  <cp:revision>13</cp:revision>
  <dcterms:created xsi:type="dcterms:W3CDTF">2023-12-24T06:09:48Z</dcterms:created>
  <dcterms:modified xsi:type="dcterms:W3CDTF">2025-02-05T15:56:57Z</dcterms:modified>
</cp:coreProperties>
</file>